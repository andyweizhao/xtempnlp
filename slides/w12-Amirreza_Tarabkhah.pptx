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7"/>
  </p:notesMasterIdLst>
  <p:sldIdLst>
    <p:sldId id="256" r:id="rId2"/>
    <p:sldId id="276" r:id="rId3"/>
    <p:sldId id="257" r:id="rId4"/>
    <p:sldId id="258" r:id="rId5"/>
    <p:sldId id="259" r:id="rId6"/>
    <p:sldId id="277" r:id="rId7"/>
    <p:sldId id="260" r:id="rId8"/>
    <p:sldId id="261" r:id="rId9"/>
    <p:sldId id="279" r:id="rId10"/>
    <p:sldId id="262" r:id="rId11"/>
    <p:sldId id="263" r:id="rId12"/>
    <p:sldId id="267" r:id="rId13"/>
    <p:sldId id="265" r:id="rId14"/>
    <p:sldId id="266" r:id="rId15"/>
    <p:sldId id="268" r:id="rId16"/>
    <p:sldId id="269" r:id="rId17"/>
    <p:sldId id="270" r:id="rId18"/>
    <p:sldId id="271" r:id="rId19"/>
    <p:sldId id="264" r:id="rId20"/>
    <p:sldId id="278" r:id="rId21"/>
    <p:sldId id="272" r:id="rId22"/>
    <p:sldId id="273" r:id="rId23"/>
    <p:sldId id="274" r:id="rId24"/>
    <p:sldId id="275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8D08C-03D2-F04A-8F28-2052B00CF314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0054A-EBF0-894C-9ECB-B26DB43B62D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1626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8C91-4BE7-F14F-9309-3B9B1FDEC7AB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6727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A3DEE-390F-AB40-8049-88F6E49F90D7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8805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6E8C-8913-2C49-AF0B-CF1CA112A06F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489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76AF3-890E-3A46-8FCC-F7ABA766B16B}" type="datetime1">
              <a:rPr lang="en-US" smtClean="0"/>
              <a:t>1/6/26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83469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9938-A5F1-904A-8450-A248852578B8}" type="datetime1">
              <a:rPr lang="en-US" smtClean="0"/>
              <a:t>1/6/26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980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852C-2CF4-2144-B535-6F01D7CC37DC}" type="datetime1">
              <a:rPr lang="en-US" smtClean="0"/>
              <a:t>1/6/26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2215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97CE-8A56-7544-ADBF-14D6063AA078}" type="datetime1">
              <a:rPr lang="en-US" smtClean="0"/>
              <a:t>1/6/26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2112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397F-9558-AB40-BE5E-27A3CEAE8F71}" type="datetime1">
              <a:rPr lang="en-US" smtClean="0"/>
              <a:t>1/6/26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8661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7725-227F-124F-A085-402E8601D07A}" type="datetime1">
              <a:rPr lang="en-US" smtClean="0"/>
              <a:t>1/6/26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2504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116C-AFEF-DA4C-BA9C-9DEF49E622F0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283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772FE-4B0F-874C-88B8-EB66C56F1F17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9612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1668-24BC-D74E-8E24-8378ABCE3CCE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07837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A085-04B3-2841-B329-3CBD222D3F73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9792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925A-6C14-B343-8E25-DF855B58BB07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3695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253A-F348-F245-B345-0B681CB182BA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26374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A1C7-6CC2-BB4B-A49D-0F6437672C49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2635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D755D-71E3-8F4C-A767-01B7C4378D23}" type="datetime1">
              <a:rPr lang="en-US" smtClean="0"/>
              <a:t>1/6/26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727BA38-CCCA-C843-B802-28ED19F7BA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804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A571-0676-2DC8-8233-18CFDE43D7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sz="2800" dirty="0"/>
              <a:t>G2S: A General-to-Specific Learning Framework for Temporal Knowledge Graph Forecasting with Large Language Models</a:t>
            </a:r>
            <a:endParaRPr lang="en-AE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FC490-FC3C-C560-CE2F-4CB97318D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E" dirty="0">
                <a:solidFill>
                  <a:schemeClr val="tx1"/>
                </a:solidFill>
              </a:rPr>
              <a:t>Amirreza Tarabkhah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D292E-E70B-5288-7C9D-6731B113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4129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34B2-A61E-DE7B-4FCB-182D077C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943" y="2811632"/>
            <a:ext cx="8596668" cy="1320800"/>
          </a:xfrm>
        </p:spPr>
        <p:txBody>
          <a:bodyPr/>
          <a:lstStyle/>
          <a:p>
            <a:r>
              <a:rPr lang="en-AE" dirty="0"/>
              <a:t>Abstract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7A143-3DBF-2B72-458D-86F7BB05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20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F5A13-8214-7C22-A71D-3B82246E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TKGs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7D9B5-6215-6F0C-3732-C68AB9243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Temporal knowlge graphs (TKGs) </a:t>
            </a:r>
            <a:r>
              <a:rPr lang="en-AE" sz="1400" dirty="0">
                <a:sym typeface="Wingdings" pitchFamily="2" charset="2"/>
              </a:rPr>
              <a:t></a:t>
            </a:r>
            <a:r>
              <a:rPr lang="en-AE" dirty="0">
                <a:sym typeface="Wingdings" pitchFamily="2" charset="2"/>
              </a:rPr>
              <a:t> consis of facts (subject, relation, object, timestamps)</a:t>
            </a:r>
          </a:p>
          <a:p>
            <a:r>
              <a:rPr lang="en-AE" dirty="0">
                <a:sym typeface="Wingdings" pitchFamily="2" charset="2"/>
              </a:rPr>
              <a:t>Often use to </a:t>
            </a:r>
            <a:r>
              <a:rPr lang="en-US" dirty="0"/>
              <a:t>represent the changes of facts over time.</a:t>
            </a:r>
          </a:p>
          <a:p>
            <a:r>
              <a:rPr lang="en-US" dirty="0"/>
              <a:t>Forecasting historical based on TKGs is critical for time sensitive scenarios.</a:t>
            </a:r>
          </a:p>
          <a:p>
            <a:r>
              <a:rPr lang="en-US" dirty="0"/>
              <a:t>The scenarios contains entities, relations and time granularities.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ADC18-C96A-4419-9183-E89D4237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22503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A98A-15FB-8A0F-6825-FBC753A4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Previous vs Recent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407C-01A1-0F06-D979-1AE58EEDB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Previous methods:</a:t>
            </a:r>
          </a:p>
          <a:p>
            <a:pPr lvl="1"/>
            <a:r>
              <a:rPr lang="en-US" dirty="0"/>
              <a:t>V</a:t>
            </a:r>
            <a:r>
              <a:rPr lang="en-AE" dirty="0"/>
              <a:t>iew TKG as a temporally ordered sequence</a:t>
            </a:r>
          </a:p>
          <a:p>
            <a:pPr lvl="1"/>
            <a:r>
              <a:rPr lang="en-US" dirty="0"/>
              <a:t>M</a:t>
            </a:r>
            <a:r>
              <a:rPr lang="en-AE" dirty="0"/>
              <a:t>ainly fouces on fitting a model to specifice TKG and generalization abilities</a:t>
            </a:r>
          </a:p>
          <a:p>
            <a:r>
              <a:rPr lang="en-AE" dirty="0"/>
              <a:t>Recent methods:</a:t>
            </a:r>
          </a:p>
          <a:p>
            <a:pPr lvl="1"/>
            <a:r>
              <a:rPr lang="en-US" dirty="0"/>
              <a:t>A</a:t>
            </a:r>
            <a:r>
              <a:rPr lang="en-AE" dirty="0"/>
              <a:t>ttept different TKGs via a unified LLM</a:t>
            </a:r>
          </a:p>
          <a:p>
            <a:pPr lvl="1"/>
            <a:r>
              <a:rPr lang="en-US" dirty="0"/>
              <a:t>S</a:t>
            </a:r>
            <a:r>
              <a:rPr lang="en-AE" dirty="0"/>
              <a:t>ome of them learn by using in-context-learning (ICL)</a:t>
            </a:r>
          </a:p>
          <a:p>
            <a:pPr lvl="1"/>
            <a:r>
              <a:rPr lang="en-AE" dirty="0"/>
              <a:t>Others by using supervised fine-tuning</a:t>
            </a:r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3C211-038B-82A8-5589-E4F5FF7F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5181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0102-21A2-4E3B-49B9-5FB90316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What is G2S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039C-40C6-1620-F31A-821349B62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74" y="2106801"/>
            <a:ext cx="9165913" cy="3880773"/>
          </a:xfrm>
        </p:spPr>
        <p:txBody>
          <a:bodyPr/>
          <a:lstStyle/>
          <a:p>
            <a:r>
              <a:rPr lang="en-AE" dirty="0"/>
              <a:t>By, anonymizing parameters into IDs, different scenarios reveals a commen substructure</a:t>
            </a:r>
          </a:p>
          <a:p>
            <a:r>
              <a:rPr lang="en-US" dirty="0"/>
              <a:t>The general patterns are common structures that can be generalized to different scenarios.</a:t>
            </a:r>
          </a:p>
          <a:p>
            <a:r>
              <a:rPr lang="en-US" dirty="0"/>
              <a:t>While scenario information is factual knowledge, such as specific entities and relations, which only help TKG forecasting in a certain scenario.</a:t>
            </a:r>
          </a:p>
          <a:p>
            <a:r>
              <a:rPr lang="en-US" dirty="0"/>
              <a:t>If model learns directly </a:t>
            </a:r>
            <a:r>
              <a:rPr lang="en-US" sz="1400" dirty="0">
                <a:sym typeface="Wingdings" pitchFamily="2" charset="2"/>
              </a:rPr>
              <a:t> </a:t>
            </a:r>
            <a:r>
              <a:rPr lang="en-US" dirty="0">
                <a:sym typeface="Wingdings" pitchFamily="2" charset="2"/>
              </a:rPr>
              <a:t>learning processes interfere each other</a:t>
            </a:r>
          </a:p>
          <a:p>
            <a:r>
              <a:rPr lang="en-US" dirty="0">
                <a:sym typeface="Wingdings" pitchFamily="2" charset="2"/>
              </a:rPr>
              <a:t>G2S consists general and specific learning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2AB08-D6E8-A232-596A-66A7E8C2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4870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7599F-949D-6F1B-5005-50027309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840" y="2768600"/>
            <a:ext cx="8596668" cy="1320800"/>
          </a:xfrm>
        </p:spPr>
        <p:txBody>
          <a:bodyPr/>
          <a:lstStyle/>
          <a:p>
            <a:r>
              <a:rPr lang="en-AE" dirty="0"/>
              <a:t>Related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93008-463E-906B-2BBE-CAC30A1F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5752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CD49-13B5-C77B-6904-74CECDC7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Related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798F5-05E9-2CAB-DFAE-9B09D228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E" dirty="0"/>
              <a:t>There are two different task settings:</a:t>
            </a:r>
          </a:p>
          <a:p>
            <a:pPr>
              <a:buFont typeface="+mj-lt"/>
              <a:buAutoNum type="arabicPeriod"/>
            </a:pPr>
            <a:r>
              <a:rPr lang="en-US" dirty="0"/>
              <a:t>I</a:t>
            </a:r>
            <a:r>
              <a:rPr lang="en-AE" dirty="0"/>
              <a:t>nterpolation</a:t>
            </a:r>
          </a:p>
          <a:p>
            <a:pPr lvl="1"/>
            <a:r>
              <a:rPr lang="en-US" dirty="0"/>
              <a:t>Predicts missing entities at past</a:t>
            </a:r>
            <a:endParaRPr lang="en-AE" dirty="0"/>
          </a:p>
          <a:p>
            <a:pPr>
              <a:buFont typeface="+mj-lt"/>
              <a:buAutoNum type="arabicPeriod"/>
            </a:pPr>
            <a:r>
              <a:rPr lang="en-US" dirty="0"/>
              <a:t>E</a:t>
            </a:r>
            <a:r>
              <a:rPr lang="en-AE" dirty="0"/>
              <a:t>xtrapolation</a:t>
            </a:r>
          </a:p>
          <a:p>
            <a:pPr lvl="1"/>
            <a:r>
              <a:rPr lang="en-US" dirty="0"/>
              <a:t>P</a:t>
            </a:r>
            <a:r>
              <a:rPr lang="en-AE" dirty="0"/>
              <a:t>redict missing entities in future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39EC3-B3C9-DE1C-D0BE-B3099053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5290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D724-FFF9-66AD-CDD9-229736D74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Methods of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4649-FF4D-CB7D-9F45-FA2044FFB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Traditional:</a:t>
            </a:r>
          </a:p>
          <a:p>
            <a:pPr lvl="1"/>
            <a:r>
              <a:rPr lang="en-AE" dirty="0"/>
              <a:t>Neural-based</a:t>
            </a:r>
          </a:p>
          <a:p>
            <a:pPr lvl="1"/>
            <a:r>
              <a:rPr lang="en-AE" dirty="0"/>
              <a:t>Reinforcement learning-based</a:t>
            </a:r>
          </a:p>
          <a:p>
            <a:pPr lvl="1"/>
            <a:r>
              <a:rPr lang="en-AE" dirty="0"/>
              <a:t>Rule-based methods</a:t>
            </a:r>
          </a:p>
          <a:p>
            <a:r>
              <a:rPr lang="en-AE" dirty="0"/>
              <a:t>Recent:</a:t>
            </a:r>
          </a:p>
          <a:p>
            <a:pPr lvl="1"/>
            <a:r>
              <a:rPr lang="en-AE" dirty="0"/>
              <a:t>In-context learning (ICL)</a:t>
            </a:r>
          </a:p>
          <a:p>
            <a:pPr lvl="1"/>
            <a:r>
              <a:rPr lang="en-AE" dirty="0"/>
              <a:t>Fine-tuning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F37ED-CAE2-9AD5-0BC6-98E9C1D3D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8101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A6695-2EAE-208F-1292-0B7C1FCA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/>
          <a:lstStyle/>
          <a:p>
            <a:r>
              <a:rPr lang="en-AE" dirty="0"/>
              <a:t>Formulation and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0BD18-8137-4359-8FB2-7DC65112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859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9FC2-2A01-5D48-B236-433AA0AB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1734-1E6F-3783-F78C-37B5791CF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A TKG is timeseries (1 to T) of KG snapshots</a:t>
            </a:r>
          </a:p>
          <a:p>
            <a:r>
              <a:rPr lang="en-US" dirty="0"/>
              <a:t>E</a:t>
            </a:r>
            <a:r>
              <a:rPr lang="en-AE" dirty="0"/>
              <a:t>ach snapshot consists                of entity, relation and fact</a:t>
            </a:r>
          </a:p>
          <a:p>
            <a:r>
              <a:rPr lang="en-US" dirty="0"/>
              <a:t>E</a:t>
            </a:r>
            <a:r>
              <a:rPr lang="en-AE" dirty="0"/>
              <a:t>ach fact is (s</a:t>
            </a:r>
            <a:r>
              <a:rPr lang="en-AE" baseline="-25000" dirty="0"/>
              <a:t>i</a:t>
            </a:r>
            <a:r>
              <a:rPr lang="en-AE" dirty="0"/>
              <a:t>,r</a:t>
            </a:r>
            <a:r>
              <a:rPr lang="en-AE" baseline="-25000" dirty="0"/>
              <a:t>i</a:t>
            </a:r>
            <a:r>
              <a:rPr lang="en-AE" dirty="0"/>
              <a:t>,o</a:t>
            </a:r>
            <a:r>
              <a:rPr lang="en-AE" baseline="-25000" dirty="0"/>
              <a:t>i</a:t>
            </a:r>
            <a:r>
              <a:rPr lang="en-AE" dirty="0"/>
              <a:t>,t) – </a:t>
            </a:r>
          </a:p>
          <a:p>
            <a:r>
              <a:rPr lang="en-US" dirty="0"/>
              <a:t>T</a:t>
            </a:r>
            <a:r>
              <a:rPr lang="en-AE" dirty="0"/>
              <a:t>he model required to quess the s or o in each queries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874DA-EC1B-821E-379C-90A546327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173" y="2629722"/>
            <a:ext cx="1049127" cy="2665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65A73-6050-8083-1CD7-89E145EC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22438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AAB0-93E1-2911-8C98-A97F1158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CAD60-71BC-B0E1-B8C5-2A6C592D9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They describe learning in two stages:</a:t>
            </a:r>
          </a:p>
          <a:p>
            <a:pPr lvl="1"/>
            <a:r>
              <a:rPr lang="en-AE" dirty="0"/>
              <a:t>General learning stage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AE" dirty="0"/>
              <a:t>Query construction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AE" dirty="0"/>
              <a:t>Anonymous temporal structure conversion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AE" dirty="0"/>
              <a:t>Sample construction</a:t>
            </a:r>
          </a:p>
          <a:p>
            <a:pPr lvl="1"/>
            <a:r>
              <a:rPr lang="en-AE" dirty="0"/>
              <a:t>Specific learning stage</a:t>
            </a:r>
          </a:p>
          <a:p>
            <a:pPr lvl="2"/>
            <a:r>
              <a:rPr lang="en-US" dirty="0"/>
              <a:t>S</a:t>
            </a:r>
            <a:r>
              <a:rPr lang="en-AE" dirty="0"/>
              <a:t>ame steps with two key difference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AE" dirty="0"/>
              <a:t>Scenario information mapping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AE" dirty="0"/>
              <a:t>Two learning modes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2D50D-4850-1B68-7B42-86697687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54303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1E93-0D24-E8A1-A70A-4618B179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174" y="2768600"/>
            <a:ext cx="4862854" cy="1320800"/>
          </a:xfrm>
        </p:spPr>
        <p:txBody>
          <a:bodyPr/>
          <a:lstStyle/>
          <a:p>
            <a:r>
              <a:rPr lang="en-AE" dirty="0"/>
              <a:t>General learning stage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F64CE8-C291-0D68-5F7C-09DA118A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4999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FA225-D7F8-A225-EBFA-00E78045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FE076-F1DD-BD70-BA57-DB8A41D7E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Learning general temporal patterns without exposing model to scenario specific information</a:t>
            </a:r>
          </a:p>
          <a:p>
            <a:r>
              <a:rPr lang="en-AE" dirty="0"/>
              <a:t>Query construction:</a:t>
            </a:r>
          </a:p>
          <a:p>
            <a:pPr lvl="1"/>
            <a:r>
              <a:rPr lang="en-US" dirty="0"/>
              <a:t>M</a:t>
            </a:r>
            <a:r>
              <a:rPr lang="en-AE" dirty="0"/>
              <a:t>ake two types of predictions: Subject, Object</a:t>
            </a:r>
          </a:p>
          <a:p>
            <a:pPr lvl="1"/>
            <a:r>
              <a:rPr lang="en-AE" dirty="0"/>
              <a:t>For each qery, we use historical fact that they are sorted by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D2203-C9F1-1EEB-77FA-11B1AFE3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64026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B6A5-15AC-7F3A-BF5E-E894514E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Anonymizing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09D4E-C643-BBEF-D7D6-1936367B4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Anonymous temporal structure conversion:</a:t>
            </a:r>
          </a:p>
          <a:p>
            <a:pPr lvl="1"/>
            <a:r>
              <a:rPr lang="en-US" dirty="0"/>
              <a:t>B</a:t>
            </a:r>
            <a:r>
              <a:rPr lang="en-AE" dirty="0"/>
              <a:t>y anonymizing parameters, it is ensure that model learns temporal patterns </a:t>
            </a:r>
            <a:r>
              <a:rPr lang="en-AE" dirty="0">
                <a:solidFill>
                  <a:srgbClr val="FF0000"/>
                </a:solidFill>
              </a:rPr>
              <a:t>not real-world semantics</a:t>
            </a:r>
          </a:p>
          <a:p>
            <a:pPr lvl="1"/>
            <a:r>
              <a:rPr lang="en-US" dirty="0"/>
              <a:t>To apply this, instead of using real names, we use identifiers</a:t>
            </a:r>
          </a:p>
          <a:p>
            <a:pPr lvl="1"/>
            <a:r>
              <a:rPr lang="en-US" dirty="0"/>
              <a:t>There is three strategies: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Frequency ID (FID): ID applies based on frequency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Global ID (GID): Original ID from dataset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Random ID (RID)</a:t>
            </a:r>
            <a:endParaRPr lang="en-AE" dirty="0"/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B742C-E2B6-870F-93CC-E56260B3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36382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EEAE-F8CE-0D7A-6821-F449B120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After anonymization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56662-6E83-C86A-CEA6-F96BC4909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After anonymization, training input consists History and Query</a:t>
            </a:r>
          </a:p>
          <a:p>
            <a:r>
              <a:rPr lang="en-US" dirty="0"/>
              <a:t>I</a:t>
            </a:r>
            <a:r>
              <a:rPr lang="en-AE" dirty="0"/>
              <a:t>f we have input of (s, r, ?, t) the output will be o</a:t>
            </a:r>
          </a:p>
          <a:p>
            <a:r>
              <a:rPr lang="en-US" dirty="0"/>
              <a:t>I</a:t>
            </a:r>
            <a:r>
              <a:rPr lang="en-AE" dirty="0"/>
              <a:t>f the output does not occure in FiD and RID, the ID of output will be NONE.</a:t>
            </a:r>
          </a:p>
          <a:p>
            <a:r>
              <a:rPr lang="en-AE" dirty="0"/>
              <a:t>At last, it will fine-tune by that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8348C-1AD8-9835-5798-DA6915B7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03146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D45E-210D-8195-38DD-BC17CBE7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765" y="2768600"/>
            <a:ext cx="8596668" cy="1320800"/>
          </a:xfrm>
        </p:spPr>
        <p:txBody>
          <a:bodyPr/>
          <a:lstStyle/>
          <a:p>
            <a:r>
              <a:rPr lang="en-AE" dirty="0"/>
              <a:t>Specific learning stage</a:t>
            </a:r>
            <a:br>
              <a:rPr lang="en-AE" dirty="0"/>
            </a:b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1A277-1F58-3C58-7775-CD69D559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67555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2D8C-3B14-6B81-0F0C-30F1FBF8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9062A-D8F4-6B60-B79A-5A054BD12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46828"/>
            <a:ext cx="8596668" cy="5117304"/>
          </a:xfrm>
        </p:spPr>
        <p:txBody>
          <a:bodyPr/>
          <a:lstStyle/>
          <a:p>
            <a:r>
              <a:rPr lang="en-AE" dirty="0"/>
              <a:t>Here, the paper combines temporal patterns with real-world scenario.</a:t>
            </a:r>
          </a:p>
          <a:p>
            <a:r>
              <a:rPr lang="en-US" dirty="0"/>
              <a:t>E</a:t>
            </a:r>
            <a:r>
              <a:rPr lang="en-AE" dirty="0"/>
              <a:t>ntities have name, relations carry meanings and model understand what each ID relates in real world</a:t>
            </a:r>
          </a:p>
          <a:p>
            <a:r>
              <a:rPr lang="en-AE" dirty="0"/>
              <a:t>Idea: Even using anonymization, provied mappings between IDs and real entities</a:t>
            </a:r>
          </a:p>
          <a:p>
            <a:r>
              <a:rPr lang="en-AE" dirty="0"/>
              <a:t>Input structure: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Mapping section: act like dictionary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Historical context: same structure as general learning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Query: after giving query, model predicts answer combining two strategies</a:t>
            </a:r>
          </a:p>
          <a:p>
            <a:r>
              <a:rPr lang="en-AE" dirty="0"/>
              <a:t>Why important? Model understands what happens but does not know what exactly is</a:t>
            </a:r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B4760-DD3C-CE6C-B8F1-34D90FA0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20629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BC3C-30B5-22CB-0FBE-85A8B082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AE" dirty="0"/>
              <a:t>earning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DCC71-9CB0-9441-F974-E41E471A7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ICL:</a:t>
            </a:r>
          </a:p>
          <a:p>
            <a:pPr lvl="1"/>
            <a:r>
              <a:rPr lang="en-US" dirty="0"/>
              <a:t>P</a:t>
            </a:r>
            <a:r>
              <a:rPr lang="en-AE" dirty="0"/>
              <a:t>arameters not updated</a:t>
            </a:r>
          </a:p>
          <a:p>
            <a:pPr lvl="1"/>
            <a:r>
              <a:rPr lang="en-US" dirty="0"/>
              <a:t>J</a:t>
            </a:r>
            <a:r>
              <a:rPr lang="en-AE" dirty="0"/>
              <a:t>ust using prompt </a:t>
            </a:r>
            <a:r>
              <a:rPr lang="en-AE" dirty="0">
                <a:sym typeface="Wingdings" pitchFamily="2" charset="2"/>
              </a:rPr>
              <a:t> it includes mapping, history and query</a:t>
            </a:r>
          </a:p>
          <a:p>
            <a:pPr lvl="1"/>
            <a:r>
              <a:rPr lang="en-US" dirty="0">
                <a:sym typeface="Wingdings" pitchFamily="2" charset="2"/>
              </a:rPr>
              <a:t>P</a:t>
            </a:r>
            <a:r>
              <a:rPr lang="en-AE" dirty="0">
                <a:sym typeface="Wingdings" pitchFamily="2" charset="2"/>
              </a:rPr>
              <a:t>ros: </a:t>
            </a:r>
            <a:r>
              <a:rPr lang="en-US" dirty="0">
                <a:sym typeface="Wingdings" pitchFamily="2" charset="2"/>
              </a:rPr>
              <a:t>F</a:t>
            </a:r>
            <a:r>
              <a:rPr lang="en-AE" dirty="0">
                <a:sym typeface="Wingdings" pitchFamily="2" charset="2"/>
              </a:rPr>
              <a:t>ast adaptation, No fine-tune cost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Cons: shallow utilizing, not good performance on complex data</a:t>
            </a:r>
          </a:p>
          <a:p>
            <a:r>
              <a:rPr lang="en-AE" dirty="0"/>
              <a:t>SFT:</a:t>
            </a:r>
          </a:p>
          <a:p>
            <a:pPr lvl="1"/>
            <a:r>
              <a:rPr lang="en-AE" dirty="0"/>
              <a:t>Parameters updated</a:t>
            </a:r>
          </a:p>
          <a:p>
            <a:pPr lvl="1"/>
            <a:r>
              <a:rPr lang="en-US" dirty="0"/>
              <a:t>T</a:t>
            </a:r>
            <a:r>
              <a:rPr lang="en-AE" dirty="0"/>
              <a:t>he model explicitly learns entitis, relation, interaction</a:t>
            </a:r>
          </a:p>
          <a:p>
            <a:pPr lvl="1"/>
            <a:r>
              <a:rPr lang="en-US" dirty="0"/>
              <a:t>R</a:t>
            </a:r>
            <a:r>
              <a:rPr lang="en-AE" dirty="0"/>
              <a:t>esult: higher accuracy, better adaptation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22BD1-1AF0-F24A-6F32-0FAEB5D8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83053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9083-83DE-13CA-119F-465728E4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387DA-DE2C-CFC4-E4A4-431415174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Dataset: They used (ICEWS14, ICEWS18, ICEWS05-15, YAGO, GDELT, WIKI)</a:t>
            </a:r>
          </a:p>
          <a:p>
            <a:r>
              <a:rPr lang="en-AE" dirty="0"/>
              <a:t>Metrics: They used top 1/3/10 correct answers</a:t>
            </a:r>
          </a:p>
          <a:p>
            <a:r>
              <a:rPr lang="en-AE" dirty="0"/>
              <a:t>Experimental setting: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Standard </a:t>
            </a:r>
            <a:r>
              <a:rPr lang="en-AE" dirty="0">
                <a:sym typeface="Wingdings" pitchFamily="2" charset="2"/>
              </a:rPr>
              <a:t> All training data used for fine-tune</a:t>
            </a:r>
            <a:endParaRPr lang="en-AE" dirty="0"/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Zero-shot </a:t>
            </a:r>
            <a:r>
              <a:rPr lang="en-AE" dirty="0">
                <a:sym typeface="Wingdings" pitchFamily="2" charset="2"/>
              </a:rPr>
              <a:t> No training data for fine-tune</a:t>
            </a:r>
            <a:endParaRPr lang="en-AE" dirty="0"/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Low-resource </a:t>
            </a:r>
            <a:r>
              <a:rPr lang="en-AE" dirty="0">
                <a:sym typeface="Wingdings" pitchFamily="2" charset="2"/>
              </a:rPr>
              <a:t> erliest 5%, 20%, 50% data used for fine-tune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DB41F-7335-B2F7-37F0-26CE0336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19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7629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062A-55C7-65B1-BFE3-34B97E02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26" y="2768600"/>
            <a:ext cx="8596668" cy="1320800"/>
          </a:xfrm>
        </p:spPr>
        <p:txBody>
          <a:bodyPr/>
          <a:lstStyle/>
          <a:p>
            <a:r>
              <a:rPr lang="en-AE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FC8C1-94EF-1F17-F242-063BB347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20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59908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DB54-5284-0545-319F-FB7F902DB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1415"/>
            <a:ext cx="8596668" cy="1320800"/>
          </a:xfrm>
        </p:spPr>
        <p:txBody>
          <a:bodyPr/>
          <a:lstStyle/>
          <a:p>
            <a:r>
              <a:rPr lang="en-AE" dirty="0"/>
              <a:t>Standard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10EE3-7E62-260D-2E5B-52031ECBD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0462"/>
            <a:ext cx="8596668" cy="2387299"/>
          </a:xfrm>
        </p:spPr>
        <p:txBody>
          <a:bodyPr/>
          <a:lstStyle/>
          <a:p>
            <a:r>
              <a:rPr lang="en-AE" dirty="0"/>
              <a:t>Train and test are from same spilit of dataset</a:t>
            </a:r>
          </a:p>
          <a:p>
            <a:r>
              <a:rPr lang="en-US" dirty="0"/>
              <a:t>T</a:t>
            </a:r>
            <a:r>
              <a:rPr lang="en-AE" dirty="0"/>
              <a:t>here is no additional generalization ghallenge</a:t>
            </a:r>
          </a:p>
          <a:p>
            <a:r>
              <a:rPr lang="en-AE" dirty="0"/>
              <a:t>Observations: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Consistent Improvement: G2S outperforms other baselines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Strong LLM utilization: architecture is more important than brute-force fine-tuning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E" dirty="0"/>
              <a:t>Stability across Metrics: </a:t>
            </a:r>
          </a:p>
          <a:p>
            <a:pPr marL="800100" lvl="1" indent="-342900">
              <a:buFont typeface="+mj-lt"/>
              <a:buAutoNum type="arabicPeriod"/>
            </a:pPr>
            <a:endParaRPr lang="en-AE" dirty="0"/>
          </a:p>
        </p:txBody>
      </p:sp>
      <p:pic>
        <p:nvPicPr>
          <p:cNvPr id="6" name="Picture 5" descr="A black screen with numbers and symbols&#10;&#10;AI-generated content may be incorrect.">
            <a:extLst>
              <a:ext uri="{FF2B5EF4-FFF2-40B4-BE49-F238E27FC236}">
                <a16:creationId xmlns:a16="http://schemas.microsoft.com/office/drawing/2014/main" id="{947D7EC2-1E58-7377-FDE0-6A5FD334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60" y="3907761"/>
            <a:ext cx="5984762" cy="271008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28EA1-5B0F-AD07-F0BC-52AE2008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21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98942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7B35-9B70-C3FD-2CB6-E4798777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Low-resource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804D2-7CE9-9A99-BB32-B2A944901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2073218"/>
          </a:xfrm>
        </p:spPr>
        <p:txBody>
          <a:bodyPr/>
          <a:lstStyle/>
          <a:p>
            <a:r>
              <a:rPr lang="en-AE" dirty="0"/>
              <a:t>Can G2S generalize completely unseen data?</a:t>
            </a:r>
          </a:p>
          <a:p>
            <a:r>
              <a:rPr lang="en-AE" dirty="0"/>
              <a:t>No fine-tuning used</a:t>
            </a:r>
          </a:p>
          <a:p>
            <a:r>
              <a:rPr lang="en-AE" dirty="0"/>
              <a:t>Only ICL</a:t>
            </a:r>
          </a:p>
          <a:p>
            <a:r>
              <a:rPr lang="en-AE" dirty="0"/>
              <a:t>G2S significantly outperforms zero-shot setting</a:t>
            </a:r>
          </a:p>
          <a:p>
            <a:r>
              <a:rPr lang="en-AE" dirty="0"/>
              <a:t>Even perfomance is lower that standard but it is not very much</a:t>
            </a:r>
          </a:p>
        </p:txBody>
      </p:sp>
      <p:pic>
        <p:nvPicPr>
          <p:cNvPr id="5" name="Picture 4" descr="A black screen with numbers and letters">
            <a:extLst>
              <a:ext uri="{FF2B5EF4-FFF2-40B4-BE49-F238E27FC236}">
                <a16:creationId xmlns:a16="http://schemas.microsoft.com/office/drawing/2014/main" id="{AE739C36-9AB5-1B68-CE9C-ECC0C63B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99" y="4003617"/>
            <a:ext cx="6893709" cy="25914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F6F5-443C-FBB1-3043-9331E46A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22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8144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9823-0150-0878-3C3F-8DE67760E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Ablation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B8E5-C072-4CE3-F1E1-7534E309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1731982"/>
          </a:xfrm>
        </p:spPr>
        <p:txBody>
          <a:bodyPr/>
          <a:lstStyle/>
          <a:p>
            <a:r>
              <a:rPr lang="en-AE" dirty="0"/>
              <a:t>Paper analyses the the impact of each component</a:t>
            </a:r>
          </a:p>
          <a:p>
            <a:pPr lvl="1"/>
            <a:r>
              <a:rPr lang="en-AE" dirty="0"/>
              <a:t>What if we do not implement General and Specific learning </a:t>
            </a:r>
            <a:r>
              <a:rPr lang="en-AE" dirty="0">
                <a:sym typeface="Wingdings" pitchFamily="2" charset="2"/>
              </a:rPr>
              <a:t> Performance significantly decreased</a:t>
            </a:r>
            <a:endParaRPr lang="en-AE" dirty="0"/>
          </a:p>
          <a:p>
            <a:pPr lvl="1"/>
            <a:r>
              <a:rPr lang="en-AE" dirty="0"/>
              <a:t>What if we do not implement specefic learning </a:t>
            </a:r>
            <a:r>
              <a:rPr lang="en-AE" dirty="0">
                <a:sym typeface="Wingdings" pitchFamily="2" charset="2"/>
              </a:rPr>
              <a:t> usable but with low accuracy</a:t>
            </a:r>
            <a:endParaRPr lang="en-AE" dirty="0"/>
          </a:p>
          <a:p>
            <a:pPr lvl="1"/>
            <a:r>
              <a:rPr lang="en-US" dirty="0"/>
              <a:t>C</a:t>
            </a:r>
            <a:r>
              <a:rPr lang="en-AE" dirty="0"/>
              <a:t>hange anonymization </a:t>
            </a:r>
            <a:r>
              <a:rPr lang="en-AE" dirty="0">
                <a:sym typeface="Wingdings" pitchFamily="2" charset="2"/>
              </a:rPr>
              <a:t> shows the impact of truly anonymization</a:t>
            </a:r>
            <a:endParaRPr lang="en-AE" dirty="0"/>
          </a:p>
        </p:txBody>
      </p:sp>
      <p:pic>
        <p:nvPicPr>
          <p:cNvPr id="5" name="Picture 4" descr="A black screen with numbers and text&#10;&#10;AI-generated content may be incorrect.">
            <a:extLst>
              <a:ext uri="{FF2B5EF4-FFF2-40B4-BE49-F238E27FC236}">
                <a16:creationId xmlns:a16="http://schemas.microsoft.com/office/drawing/2014/main" id="{9F170A38-A03B-4B76-D522-3F654F2F5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98" y="3662381"/>
            <a:ext cx="3352800" cy="2997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677B9-E465-3D09-3AFC-923D290C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23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4149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F404-1A92-2C63-A591-D9A6543D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Analyses on Anonymazation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2819-1DEB-0090-E73A-E2F8E4620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/>
          <a:lstStyle/>
          <a:p>
            <a:r>
              <a:rPr lang="en-AE" dirty="0"/>
              <a:t>Here we analyse that is choosing each FID, RID and GID important or not</a:t>
            </a:r>
          </a:p>
          <a:p>
            <a:pPr lvl="1"/>
            <a:r>
              <a:rPr lang="en-AE" dirty="0"/>
              <a:t>RID: Unstable, Random</a:t>
            </a:r>
          </a:p>
          <a:p>
            <a:pPr lvl="1"/>
            <a:r>
              <a:rPr lang="en-AE" dirty="0"/>
              <a:t>FID: Stable, Frequency</a:t>
            </a:r>
          </a:p>
          <a:p>
            <a:pPr lvl="1"/>
            <a:r>
              <a:rPr lang="en-AE" dirty="0"/>
              <a:t>GID: Most stable</a:t>
            </a:r>
          </a:p>
          <a:p>
            <a:r>
              <a:rPr lang="en-AE" dirty="0"/>
              <a:t>Most weak one is RID. FID and GID have the most performance</a:t>
            </a:r>
          </a:p>
          <a:p>
            <a:r>
              <a:rPr lang="en-US" dirty="0"/>
              <a:t>I</a:t>
            </a:r>
            <a:r>
              <a:rPr lang="en-AE" dirty="0"/>
              <a:t>t is understandable that stable IDs are the best one. Also, cosistent mapping is more important that the 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6B70E-AA93-8A7D-BAC7-8D9CA77F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24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44900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4750-123E-6EDF-1358-8A1035EF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/>
          <a:lstStyle/>
          <a:p>
            <a:r>
              <a:rPr lang="en-AE" dirty="0"/>
              <a:t>Thank you for your 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09A56-65EA-FF30-FBF8-B8671E92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BA38-CCCA-C843-B802-28ED19F7BA16}" type="slidenum">
              <a:rPr lang="en-AE" smtClean="0"/>
              <a:t>25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426950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1631</TotalTime>
  <Words>924</Words>
  <Application>Microsoft Macintosh PowerPoint</Application>
  <PresentationFormat>Widescreen</PresentationFormat>
  <Paragraphs>150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Trebuchet MS</vt:lpstr>
      <vt:lpstr>Wingdings</vt:lpstr>
      <vt:lpstr>Wingdings 3</vt:lpstr>
      <vt:lpstr>Facet</vt:lpstr>
      <vt:lpstr>G2S: A General-to-Specific Learning Framework for Temporal Knowledge Graph Forecasting with Large Language Models</vt:lpstr>
      <vt:lpstr>Abstract</vt:lpstr>
      <vt:lpstr>TKGs</vt:lpstr>
      <vt:lpstr>Previous vs Recent methods</vt:lpstr>
      <vt:lpstr>What is G2S</vt:lpstr>
      <vt:lpstr>Related works</vt:lpstr>
      <vt:lpstr>Related Works</vt:lpstr>
      <vt:lpstr>Methods of working</vt:lpstr>
      <vt:lpstr>Formulation and Methodology</vt:lpstr>
      <vt:lpstr>Formulation</vt:lpstr>
      <vt:lpstr>Methodology</vt:lpstr>
      <vt:lpstr>General learning stage</vt:lpstr>
      <vt:lpstr>Query</vt:lpstr>
      <vt:lpstr>Anonymizing</vt:lpstr>
      <vt:lpstr>After anonymization</vt:lpstr>
      <vt:lpstr>Specific learning stage </vt:lpstr>
      <vt:lpstr>PowerPoint Presentation</vt:lpstr>
      <vt:lpstr>Learning methods</vt:lpstr>
      <vt:lpstr>Experimental Setup</vt:lpstr>
      <vt:lpstr>Results</vt:lpstr>
      <vt:lpstr>Standard setting</vt:lpstr>
      <vt:lpstr>Low-resource setting</vt:lpstr>
      <vt:lpstr>Ablation study</vt:lpstr>
      <vt:lpstr>Analyses on Anonymazation strategies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MACBOOK</dc:creator>
  <cp:lastModifiedBy>MACBOOK</cp:lastModifiedBy>
  <cp:revision>5</cp:revision>
  <dcterms:created xsi:type="dcterms:W3CDTF">2026-01-05T10:44:08Z</dcterms:created>
  <dcterms:modified xsi:type="dcterms:W3CDTF">2026-01-06T13:55:37Z</dcterms:modified>
</cp:coreProperties>
</file>